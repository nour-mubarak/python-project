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C2D48"/>
                </a:solidFill>
              </a:defRPr>
            </a:pPr>
            <a:r>
              <a:t>MULTILINGUAL AI READINESS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Arabic-English Model Evaluation for Policy Q&amp;A and student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284C7"/>
                </a:solidFill>
              </a:defRPr>
            </a:pPr>
            <a:r>
              <a:t>Prepared for Durham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March 2026 | LinguaEval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D48"/>
                </a:solidFill>
              </a:defRPr>
            </a:pPr>
            <a:r>
              <a:t>Executive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10058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Readiness Status</a:t>
                      </a:r>
                    </a:p>
                  </a:txBody>
                  <a:tcPr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Overall Score</a:t>
                      </a:r>
                    </a:p>
                  </a:txBody>
                  <a:tcPr>
                    <a:solidFill>
                      <a:srgbClr val="0C2D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LLAMA3.1:LATEST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2410C"/>
                          </a:solidFill>
                        </a:defRPr>
                      </a:pPr>
                      <a:r>
                        <a:t>Restricted Pilot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78.5%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GEMMA3:27B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6534"/>
                          </a:solidFill>
                        </a:defRPr>
                      </a:pPr>
                      <a:r>
                        <a:t>Ready for 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85.5%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6534"/>
                </a:solidFill>
              </a:defRPr>
            </a:pPr>
            <a:r>
              <a:t>✓ Recommended: GEMMA3:27B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91C1C"/>
                </a:solidFill>
              </a:defRPr>
            </a:pPr>
            <a:r>
              <a:t>Critical Findings:</a:t>
            </a:r>
          </a:p>
          <a:p>
            <a:pPr>
              <a:defRPr sz="1200"/>
            </a:pPr>
            <a:r>
              <a:t>• Code-switching: 4 instance(s) in gemma3:27b</a:t>
            </a:r>
          </a:p>
          <a:p>
            <a:pPr>
              <a:defRPr sz="1200"/>
            </a:pPr>
            <a:r>
              <a:t>• LLAMA3.1:LATEST: bias cross-lingual gap of 16.0%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D48"/>
                </a:solidFill>
              </a:defRPr>
            </a:pPr>
            <a:r>
              <a:t>Model Performance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72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LLAMA3.1:LATEST EN</a:t>
                      </a:r>
                    </a:p>
                  </a:txBody>
                  <a:tcPr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LLAMA3.1:LATEST AR</a:t>
                      </a:r>
                    </a:p>
                  </a:txBody>
                  <a:tcPr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GEMMA3:27B EN</a:t>
                      </a:r>
                    </a:p>
                  </a:txBody>
                  <a:tcPr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GEMMA3:27B AR</a:t>
                      </a:r>
                    </a:p>
                  </a:txBody>
                  <a:tcPr>
                    <a:solidFill>
                      <a:srgbClr val="0C2D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2410C"/>
                          </a:solidFill>
                        </a:defRPr>
                      </a:pPr>
                      <a:r>
                        <a:t>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91C1C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2410C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91C1C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2410C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2410C"/>
                          </a:solidFill>
                        </a:defRPr>
                      </a:pPr>
                      <a:r>
                        <a:t>71%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Cultural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Fluency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87%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Hallucination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2410C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D48"/>
                </a:solidFill>
              </a:defRPr>
            </a:pPr>
            <a:r>
              <a:t>Deployment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2410C"/>
                </a:solidFill>
              </a:defRPr>
            </a:pPr>
            <a:r>
              <a:t>LLAMA3.1:LATEST: Restricted Pilot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• Enhanced human review required initially</a:t>
            </a:r>
          </a:p>
          <a:p>
            <a:pPr>
              <a:defRPr sz="1200"/>
            </a:pPr>
            <a:r>
              <a:t>• Restrict to single workflow before expanding</a:t>
            </a:r>
          </a:p>
          <a:p>
            <a:pPr>
              <a:defRPr sz="1200"/>
            </a:pPr>
            <a:r>
              <a:t>• Weekly monitoring during pilot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6534"/>
                </a:solidFill>
              </a:defRPr>
            </a:pPr>
            <a:r>
              <a:t>GEMMA3:27B: Ready for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• Suitable for bounded pilot deployment</a:t>
            </a:r>
          </a:p>
          <a:p>
            <a:pPr>
              <a:defRPr sz="1200"/>
            </a:pPr>
            <a:r>
              <a:t>• Standard monitoring recommended (10-15% human review)</a:t>
            </a:r>
          </a:p>
          <a:p>
            <a:pPr>
              <a:defRPr sz="1200"/>
            </a:pPr>
            <a:r>
              <a:t>• Quarterly cross-lingual re-evaluation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D48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284C7"/>
                </a:solidFill>
              </a:defRPr>
            </a:pPr>
            <a:r>
              <a:t>Immediate (0-30 Days)</a:t>
            </a:r>
          </a:p>
          <a:p>
            <a:pPr>
              <a:defRPr sz="1200"/>
            </a:pPr>
            <a:r>
              <a:t>  • Review critical findings with stakeholders</a:t>
            </a:r>
          </a:p>
          <a:p>
            <a:pPr>
              <a:defRPr sz="1200"/>
            </a:pPr>
            <a:r>
              <a:t>  • Implement recommended controls for pilot</a:t>
            </a:r>
          </a:p>
          <a:p>
            <a:pPr>
              <a:defRPr sz="1200"/>
            </a:pPr>
            <a:r>
              <a:t>  • Establish monitoring and feedback processes</a:t>
            </a:r>
          </a:p>
          <a:p>
            <a:pPr>
              <a:defRPr sz="1400" b="1">
                <a:solidFill>
                  <a:srgbClr val="0284C7"/>
                </a:solidFill>
              </a:defRPr>
            </a:pPr>
            <a:r>
              <a:t>Medium-Term (60-90 Days)</a:t>
            </a:r>
          </a:p>
          <a:p>
            <a:pPr>
              <a:defRPr sz="1200"/>
            </a:pPr>
            <a:r>
              <a:t>  • Conduct follow-up evaluation</a:t>
            </a:r>
          </a:p>
          <a:p>
            <a:pPr>
              <a:defRPr sz="1200"/>
            </a:pPr>
            <a:r>
              <a:t>  • Expand pilot scope if results positive</a:t>
            </a:r>
          </a:p>
          <a:p>
            <a:pPr>
              <a:defRPr sz="1200"/>
            </a:pPr>
            <a:r>
              <a:t>  • Consider Cross-Lingual Bias &amp; Reliability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Contact: hello@linguaeval.com | www.linguaeval.com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